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6"/>
  </p:notesMasterIdLst>
  <p:handoutMasterIdLst>
    <p:handoutMasterId r:id="rId17"/>
  </p:handoutMasterIdLst>
  <p:sldIdLst>
    <p:sldId id="410" r:id="rId5"/>
    <p:sldId id="383" r:id="rId6"/>
    <p:sldId id="391" r:id="rId7"/>
    <p:sldId id="411" r:id="rId8"/>
    <p:sldId id="412" r:id="rId9"/>
    <p:sldId id="413" r:id="rId10"/>
    <p:sldId id="414" r:id="rId11"/>
    <p:sldId id="415" r:id="rId12"/>
    <p:sldId id="416" r:id="rId13"/>
    <p:sldId id="417" r:id="rId14"/>
    <p:sldId id="40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27" autoAdjust="0"/>
  </p:normalViewPr>
  <p:slideViewPr>
    <p:cSldViewPr snapToGrid="0">
      <p:cViewPr varScale="1">
        <p:scale>
          <a:sx n="82" d="100"/>
          <a:sy n="82" d="100"/>
        </p:scale>
        <p:origin x="720"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saram Varsha Reddy" userId="33953a6a35788653" providerId="LiveId" clId="{5FA1F54C-63F6-413C-98CF-C1879E6F138F}"/>
    <pc:docChg chg="modSld">
      <pc:chgData name="Dasaram Varsha Reddy" userId="33953a6a35788653" providerId="LiveId" clId="{5FA1F54C-63F6-413C-98CF-C1879E6F138F}" dt="2025-10-09T15:52:57.613" v="7" actId="20577"/>
      <pc:docMkLst>
        <pc:docMk/>
      </pc:docMkLst>
      <pc:sldChg chg="modSp mod">
        <pc:chgData name="Dasaram Varsha Reddy" userId="33953a6a35788653" providerId="LiveId" clId="{5FA1F54C-63F6-413C-98CF-C1879E6F138F}" dt="2025-10-09T15:52:57.613" v="7" actId="20577"/>
        <pc:sldMkLst>
          <pc:docMk/>
          <pc:sldMk cId="2933484804" sldId="413"/>
        </pc:sldMkLst>
        <pc:spChg chg="mod">
          <ac:chgData name="Dasaram Varsha Reddy" userId="33953a6a35788653" providerId="LiveId" clId="{5FA1F54C-63F6-413C-98CF-C1879E6F138F}" dt="2025-10-09T15:52:57.613" v="7" actId="20577"/>
          <ac:spMkLst>
            <pc:docMk/>
            <pc:sldMk cId="2933484804" sldId="413"/>
            <ac:spMk id="4" creationId="{A8FEB59F-20C0-6630-8BB8-AEB13921C38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10/9/2025</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10/9/2025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D6482-8F47-0EE3-8157-6168D9F44D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9BDB54-0754-D1CA-AD6D-A38C2A149D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6C9912-9CA1-9056-67BA-9CA77D382A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AB43AA-D08B-D683-9153-D0155767E084}"/>
              </a:ext>
            </a:extLst>
          </p:cNvPr>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2055577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4722C-8F1D-5AE7-E5AC-5FCE3743D1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4F0BEB-F9E5-4DB4-19AD-D303B38F41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D44470-D3A5-AB04-B52D-1452C65CC9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2B32D2-A45E-ABE8-961B-31AE4DC7788C}"/>
              </a:ext>
            </a:extLst>
          </p:cNvPr>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42252601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11</a:t>
            </a:fld>
            <a:endParaRPr lang="en-US" dirty="0"/>
          </a:p>
        </p:txBody>
      </p:sp>
    </p:spTree>
    <p:extLst>
      <p:ext uri="{BB962C8B-B14F-4D97-AF65-F5344CB8AC3E}">
        <p14:creationId xmlns:p14="http://schemas.microsoft.com/office/powerpoint/2010/main" val="23861837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makshaya2704@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6309904" y="746449"/>
            <a:ext cx="5110765" cy="2956870"/>
          </a:xfrm>
        </p:spPr>
        <p:txBody>
          <a:bodyPr/>
          <a:lstStyle/>
          <a:p>
            <a:r>
              <a:rPr lang="en-US" altLang="en-US" sz="3600" i="1" dirty="0" err="1">
                <a:latin typeface="Arial" panose="020B0604020202020204" pitchFamily="34" charset="0"/>
              </a:rPr>
              <a:t>Youtube</a:t>
            </a:r>
            <a:r>
              <a:rPr lang="en-US" altLang="en-US" sz="3600" i="1" dirty="0">
                <a:latin typeface="Arial" panose="020B0604020202020204" pitchFamily="34" charset="0"/>
              </a:rPr>
              <a:t> Channel Information Analysis using Big Data Analytics (</a:t>
            </a:r>
            <a:r>
              <a:rPr lang="en-US" altLang="en-US" sz="3600" i="1" dirty="0" err="1">
                <a:latin typeface="Arial" panose="020B0604020202020204" pitchFamily="34" charset="0"/>
              </a:rPr>
              <a:t>PySpark</a:t>
            </a:r>
            <a:r>
              <a:rPr lang="en-US" altLang="en-US" sz="3600" i="1" dirty="0">
                <a:latin typeface="Arial" panose="020B0604020202020204" pitchFamily="34" charset="0"/>
              </a:rPr>
              <a:t>)</a:t>
            </a:r>
            <a:br>
              <a:rPr lang="en-US" altLang="en-US" sz="3600" b="0" dirty="0">
                <a:latin typeface="Arial" panose="020B0604020202020204" pitchFamily="34" charset="0"/>
              </a:rPr>
            </a:br>
            <a:endParaRPr lang="en-US" sz="3600" dirty="0"/>
          </a:p>
        </p:txBody>
      </p:sp>
      <p:sp>
        <p:nvSpPr>
          <p:cNvPr id="5" name="TextBox 4">
            <a:extLst>
              <a:ext uri="{FF2B5EF4-FFF2-40B4-BE49-F238E27FC236}">
                <a16:creationId xmlns:a16="http://schemas.microsoft.com/office/drawing/2014/main" id="{FD257AB2-F1E2-870F-362D-E22DE714E800}"/>
              </a:ext>
            </a:extLst>
          </p:cNvPr>
          <p:cNvSpPr txBox="1"/>
          <p:nvPr/>
        </p:nvSpPr>
        <p:spPr>
          <a:xfrm>
            <a:off x="6309904" y="4415040"/>
            <a:ext cx="5882096" cy="1508105"/>
          </a:xfrm>
          <a:prstGeom prst="rect">
            <a:avLst/>
          </a:prstGeom>
          <a:noFill/>
        </p:spPr>
        <p:txBody>
          <a:bodyPr wrap="square">
            <a:spAutoFit/>
          </a:bodyPr>
          <a:lstStyle/>
          <a:p>
            <a:r>
              <a:rPr lang="en-IN" sz="1400" i="1" dirty="0">
                <a:solidFill>
                  <a:schemeClr val="bg1"/>
                </a:solidFill>
                <a:latin typeface="Arial" panose="020B0604020202020204" pitchFamily="34" charset="0"/>
                <a:cs typeface="Arial" panose="020B0604020202020204" pitchFamily="34" charset="0"/>
              </a:rPr>
              <a:t>Name: D VARSHA REDDY</a:t>
            </a:r>
          </a:p>
          <a:p>
            <a:r>
              <a:rPr lang="en-IN" sz="1400" i="1" dirty="0">
                <a:solidFill>
                  <a:schemeClr val="bg1"/>
                </a:solidFill>
                <a:latin typeface="Arial" panose="020B0604020202020204" pitchFamily="34" charset="0"/>
                <a:cs typeface="Arial" panose="020B0604020202020204" pitchFamily="34" charset="0"/>
              </a:rPr>
              <a:t>Roll No: 2211CS010135 (S2)</a:t>
            </a:r>
          </a:p>
          <a:p>
            <a:r>
              <a:rPr lang="en-IN" sz="1400" i="1" dirty="0">
                <a:solidFill>
                  <a:schemeClr val="bg1"/>
                </a:solidFill>
                <a:latin typeface="Arial" panose="020B0604020202020204" pitchFamily="34" charset="0"/>
                <a:cs typeface="Arial" panose="020B0604020202020204" pitchFamily="34" charset="0"/>
              </a:rPr>
              <a:t>Dataset: </a:t>
            </a:r>
            <a:r>
              <a:rPr lang="en-IN" sz="1400" i="1" dirty="0" err="1">
                <a:solidFill>
                  <a:schemeClr val="bg1"/>
                </a:solidFill>
                <a:latin typeface="Arial" panose="020B0604020202020204" pitchFamily="34" charset="0"/>
                <a:cs typeface="Arial" panose="020B0604020202020204" pitchFamily="34" charset="0"/>
              </a:rPr>
              <a:t>Youtube</a:t>
            </a:r>
            <a:r>
              <a:rPr lang="en-IN" sz="1400" i="1" dirty="0">
                <a:solidFill>
                  <a:schemeClr val="bg1"/>
                </a:solidFill>
                <a:latin typeface="Arial" panose="020B0604020202020204" pitchFamily="34" charset="0"/>
                <a:cs typeface="Arial" panose="020B0604020202020204" pitchFamily="34" charset="0"/>
              </a:rPr>
              <a:t> channel information dataset(Kaggle)</a:t>
            </a:r>
          </a:p>
          <a:p>
            <a:r>
              <a:rPr lang="en-IN" sz="1400" i="1" dirty="0" err="1">
                <a:solidFill>
                  <a:schemeClr val="bg1"/>
                </a:solidFill>
                <a:latin typeface="Arial" panose="020B0604020202020204" pitchFamily="34" charset="0"/>
                <a:cs typeface="Arial" panose="020B0604020202020204" pitchFamily="34" charset="0"/>
              </a:rPr>
              <a:t>Email:varshadasaram@gmail.com</a:t>
            </a:r>
            <a:endParaRPr lang="en-IN" sz="1400" i="1" dirty="0">
              <a:solidFill>
                <a:schemeClr val="bg1"/>
              </a:solidFill>
              <a:latin typeface="Arial" panose="020B0604020202020204" pitchFamily="34" charset="0"/>
              <a:cs typeface="Arial" panose="020B0604020202020204" pitchFamily="34" charset="0"/>
            </a:endParaRPr>
          </a:p>
          <a:p>
            <a:r>
              <a:rPr lang="en-IN" sz="1400" i="1" dirty="0">
                <a:solidFill>
                  <a:schemeClr val="bg1"/>
                </a:solidFill>
                <a:latin typeface="Arial" panose="020B0604020202020204" pitchFamily="34" charset="0"/>
                <a:cs typeface="Arial" panose="020B0604020202020204" pitchFamily="34" charset="0"/>
              </a:rPr>
              <a:t>LinkedIn: linkedin.com/in/varsha-dasaram-b96201332</a:t>
            </a:r>
            <a:r>
              <a:rPr lang="en-IN" sz="1800" b="1" dirty="0">
                <a:latin typeface="Agency FB" panose="020B0503020202020204" pitchFamily="34" charset="0"/>
              </a:rPr>
              <a:t>il: vattikondasreeja4</a:t>
            </a:r>
            <a:r>
              <a:rPr lang="en-IN" sz="1800" b="1" dirty="0">
                <a:latin typeface="Agency FB" panose="020B0503020202020204" pitchFamily="34" charset="0"/>
                <a:hlinkClick r:id="rId3">
                  <a:extLst>
                    <a:ext uri="{A12FA001-AC4F-418D-AE19-62706E023703}">
                      <ahyp:hlinkClr xmlns:ahyp="http://schemas.microsoft.com/office/drawing/2018/hyperlinkcolor" val="tx"/>
                    </a:ext>
                  </a:extLst>
                </a:hlinkClick>
              </a:rPr>
              <a:t>@gmail.com</a:t>
            </a:r>
            <a:endParaRPr lang="en-IN" sz="1800" b="1" dirty="0">
              <a:latin typeface="Agency FB" panose="020B0503020202020204" pitchFamily="34" charset="0"/>
            </a:endParaRP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a:lstStyle/>
          <a:p>
            <a:r>
              <a:rPr lang="en-US" dirty="0"/>
              <a:t>Agenda</a:t>
            </a:r>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a:xfrm>
            <a:off x="593725" y="2281238"/>
            <a:ext cx="6788150" cy="3709987"/>
          </a:xfrm>
        </p:spPr>
        <p:txBody>
          <a:bodyPr tIns="457200"/>
          <a:lstStyle/>
          <a:p>
            <a:r>
              <a:rPr lang="en-US" dirty="0"/>
              <a:t>Introduction</a:t>
            </a:r>
          </a:p>
          <a:p>
            <a:r>
              <a:rPr lang="en-US" dirty="0"/>
              <a:t>Initial Analysis of Dataset</a:t>
            </a:r>
          </a:p>
          <a:p>
            <a:r>
              <a:rPr lang="en-US" dirty="0"/>
              <a:t>Dataset Observations</a:t>
            </a:r>
          </a:p>
          <a:p>
            <a:r>
              <a:rPr lang="en-US" dirty="0"/>
              <a:t>Graphs</a:t>
            </a:r>
          </a:p>
          <a:p>
            <a:r>
              <a:rPr lang="en-US" dirty="0"/>
              <a:t>Conclusion &amp; Future Scope</a:t>
            </a:r>
          </a:p>
          <a:p>
            <a:endParaRPr lang="en-US" dirty="0"/>
          </a:p>
        </p:txBody>
      </p:sp>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a:lstStyle/>
          <a:p>
            <a:r>
              <a:rPr lang="en-US" dirty="0"/>
              <a:t>Introduction</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3657600" y="2281238"/>
            <a:ext cx="7893698" cy="2458713"/>
          </a:xfrm>
        </p:spPr>
        <p:txBody>
          <a:bodyPr>
            <a:normAutofit/>
          </a:bodyPr>
          <a:lstStyle/>
          <a:p>
            <a:pPr marL="0" indent="0">
              <a:buNone/>
            </a:pPr>
            <a:r>
              <a:rPr lang="en-US" sz="1600" dirty="0"/>
              <a:t>The objective of this project is to use a large-scale dataset to uncover the primary factors that distinguish highly successful YouTube channels from the rest. We aim to establish the quantitative relationship between a channel’s output—measured by </a:t>
            </a:r>
            <a:r>
              <a:rPr lang="en-US" sz="1600" b="1" dirty="0"/>
              <a:t>video volume</a:t>
            </a:r>
            <a:r>
              <a:rPr lang="en-US" sz="1600" dirty="0"/>
              <a:t> and </a:t>
            </a:r>
            <a:r>
              <a:rPr lang="en-US" sz="1600" b="1" dirty="0"/>
              <a:t>content consistency</a:t>
            </a:r>
            <a:r>
              <a:rPr lang="en-US" sz="1600" dirty="0"/>
              <a:t>—and its resulting audience scale, which is measured by </a:t>
            </a:r>
            <a:r>
              <a:rPr lang="en-US" sz="1600" b="1" dirty="0"/>
              <a:t>total views</a:t>
            </a:r>
            <a:r>
              <a:rPr lang="en-US" sz="1600" dirty="0"/>
              <a:t> and </a:t>
            </a:r>
            <a:r>
              <a:rPr lang="en-US" sz="1600" b="1" dirty="0"/>
              <a:t>subscribers</a:t>
            </a:r>
            <a:r>
              <a:rPr lang="en-US" sz="1600" dirty="0"/>
              <a:t>. Furthermore, the study analyzes the impact of </a:t>
            </a:r>
            <a:r>
              <a:rPr lang="en-US" sz="1600" b="1" dirty="0"/>
              <a:t>categorical attributes</a:t>
            </a:r>
            <a:r>
              <a:rPr lang="en-US" sz="1600" dirty="0"/>
              <a:t> such as the channel's niche (category) and geographic origin (country) on its overall performance metrics. The insights derived from this analysis are crucial for developing data-driven strategies for content creation, market targeting, and investment in the creator economy.</a:t>
            </a:r>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3200312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16996-17AD-8FAB-DCB0-0BE20A371D2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BD67801-6E2B-16E6-7C42-DFFC9D7AF6DA}"/>
              </a:ext>
            </a:extLst>
          </p:cNvPr>
          <p:cNvSpPr>
            <a:spLocks noGrp="1"/>
          </p:cNvSpPr>
          <p:nvPr>
            <p:ph type="title"/>
          </p:nvPr>
        </p:nvSpPr>
        <p:spPr>
          <a:xfrm>
            <a:off x="594360" y="102875"/>
            <a:ext cx="10873740" cy="1680205"/>
          </a:xfrm>
        </p:spPr>
        <p:txBody>
          <a:bodyPr/>
          <a:lstStyle/>
          <a:p>
            <a:r>
              <a:rPr lang="en-US" dirty="0"/>
              <a:t>Initial Analysis of the Dataset</a:t>
            </a:r>
          </a:p>
        </p:txBody>
      </p:sp>
      <p:sp>
        <p:nvSpPr>
          <p:cNvPr id="7" name="Text Placeholder 6">
            <a:extLst>
              <a:ext uri="{FF2B5EF4-FFF2-40B4-BE49-F238E27FC236}">
                <a16:creationId xmlns:a16="http://schemas.microsoft.com/office/drawing/2014/main" id="{F77C9CCB-2646-B93C-424F-861AF0ACA866}"/>
              </a:ext>
            </a:extLst>
          </p:cNvPr>
          <p:cNvSpPr>
            <a:spLocks noGrp="1"/>
          </p:cNvSpPr>
          <p:nvPr>
            <p:ph sz="quarter" idx="13"/>
          </p:nvPr>
        </p:nvSpPr>
        <p:spPr>
          <a:xfrm>
            <a:off x="3657600" y="2281238"/>
            <a:ext cx="7810500" cy="3700462"/>
          </a:xfrm>
        </p:spPr>
        <p:txBody>
          <a:bodyPr>
            <a:normAutofit/>
          </a:bodyPr>
          <a:lstStyle/>
          <a:p>
            <a:pPr marL="0" lvl="0" indent="0" eaLnBrk="0" fontAlgn="base" hangingPunct="0">
              <a:lnSpc>
                <a:spcPct val="100000"/>
              </a:lnSpc>
              <a:spcBef>
                <a:spcPct val="0"/>
              </a:spcBef>
              <a:spcAft>
                <a:spcPct val="0"/>
              </a:spcAft>
              <a:buFontTx/>
              <a:buChar char="•"/>
            </a:pPr>
            <a:r>
              <a:rPr lang="en-US" altLang="en-US" b="1" dirty="0">
                <a:latin typeface="Arial" panose="020B0604020202020204" pitchFamily="34" charset="0"/>
              </a:rPr>
              <a:t>Dataset Size:</a:t>
            </a:r>
            <a:r>
              <a:rPr lang="en-US" altLang="en-US" dirty="0">
                <a:latin typeface="Arial" panose="020B0604020202020204" pitchFamily="34" charset="0"/>
              </a:rPr>
              <a:t> ~</a:t>
            </a:r>
            <a:r>
              <a:rPr lang="en-IN" dirty="0"/>
              <a:t>Approximately </a:t>
            </a:r>
            <a:r>
              <a:rPr lang="en-IN" b="1" dirty="0"/>
              <a:t>9000+</a:t>
            </a:r>
            <a:r>
              <a:rPr lang="en-IN" dirty="0"/>
              <a:t> channel records.</a:t>
            </a:r>
            <a:endParaRPr lang="en-US" altLang="en-US"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b="1" dirty="0">
                <a:latin typeface="Arial" panose="020B0604020202020204" pitchFamily="34" charset="0"/>
              </a:rPr>
              <a:t>Key Columns:</a:t>
            </a:r>
          </a:p>
          <a:p>
            <a:pPr marL="0" lvl="0" indent="0" eaLnBrk="0" fontAlgn="base" hangingPunct="0">
              <a:lnSpc>
                <a:spcPct val="100000"/>
              </a:lnSpc>
              <a:spcBef>
                <a:spcPct val="0"/>
              </a:spcBef>
              <a:spcAft>
                <a:spcPct val="0"/>
              </a:spcAft>
              <a:buNone/>
            </a:pPr>
            <a:r>
              <a:rPr lang="en-US" b="1" dirty="0"/>
              <a:t>Scale Metrics:</a:t>
            </a:r>
            <a:r>
              <a:rPr lang="en-US" dirty="0"/>
              <a:t> </a:t>
            </a:r>
            <a:r>
              <a:rPr lang="en-US" dirty="0" err="1"/>
              <a:t>subscriber_count</a:t>
            </a:r>
            <a:r>
              <a:rPr lang="en-US" dirty="0"/>
              <a:t>, </a:t>
            </a:r>
            <a:r>
              <a:rPr lang="en-US" dirty="0" err="1"/>
              <a:t>view_count</a:t>
            </a:r>
            <a:r>
              <a:rPr lang="en-US" dirty="0"/>
              <a:t> </a:t>
            </a:r>
          </a:p>
          <a:p>
            <a:pPr marL="0" lvl="0" indent="0" eaLnBrk="0" fontAlgn="base" hangingPunct="0">
              <a:lnSpc>
                <a:spcPct val="100000"/>
              </a:lnSpc>
              <a:spcBef>
                <a:spcPct val="0"/>
              </a:spcBef>
              <a:spcAft>
                <a:spcPct val="0"/>
              </a:spcAft>
              <a:buNone/>
            </a:pPr>
            <a:r>
              <a:rPr lang="en-US" b="1" dirty="0"/>
              <a:t>Performance Attributes:</a:t>
            </a:r>
            <a:r>
              <a:rPr lang="en-US" dirty="0"/>
              <a:t> </a:t>
            </a:r>
            <a:r>
              <a:rPr lang="en-US" dirty="0" err="1"/>
              <a:t>video_count</a:t>
            </a:r>
            <a:r>
              <a:rPr lang="en-US" dirty="0"/>
              <a:t>, </a:t>
            </a:r>
            <a:r>
              <a:rPr lang="en-US" dirty="0" err="1"/>
              <a:t>created_date</a:t>
            </a:r>
            <a:r>
              <a:rPr lang="en-US" dirty="0"/>
              <a:t>.</a:t>
            </a:r>
          </a:p>
          <a:p>
            <a:pPr marL="0" lvl="0" indent="0" eaLnBrk="0" fontAlgn="base" hangingPunct="0">
              <a:lnSpc>
                <a:spcPct val="100000"/>
              </a:lnSpc>
              <a:spcBef>
                <a:spcPct val="0"/>
              </a:spcBef>
              <a:spcAft>
                <a:spcPct val="0"/>
              </a:spcAft>
              <a:buNone/>
            </a:pPr>
            <a:r>
              <a:rPr lang="en-US" b="1" dirty="0"/>
              <a:t>Metadata:</a:t>
            </a:r>
            <a:r>
              <a:rPr lang="en-US" dirty="0"/>
              <a:t> category (Wikipedia links), country</a:t>
            </a:r>
            <a:endParaRPr lang="en-US" altLang="en-US"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b="1" dirty="0">
                <a:latin typeface="Arial" panose="020B0604020202020204" pitchFamily="34" charset="0"/>
              </a:rPr>
              <a:t>Missing Values:</a:t>
            </a:r>
            <a:r>
              <a:rPr lang="en-US" altLang="en-US" dirty="0">
                <a:latin typeface="Arial" panose="020B0604020202020204" pitchFamily="34" charset="0"/>
              </a:rPr>
              <a:t> </a:t>
            </a:r>
            <a:r>
              <a:rPr lang="en-US" dirty="0"/>
              <a:t>Some missing entries in country and </a:t>
            </a:r>
            <a:r>
              <a:rPr lang="en-US" dirty="0" err="1"/>
              <a:t>defaultLanguage</a:t>
            </a:r>
            <a:r>
              <a:rPr lang="en-US" dirty="0"/>
              <a:t>.</a:t>
            </a:r>
            <a:r>
              <a:rPr lang="en-US" altLang="en-US" dirty="0">
                <a:latin typeface="Arial" panose="020B0604020202020204" pitchFamily="34" charset="0"/>
              </a:rPr>
              <a:t>.</a:t>
            </a:r>
          </a:p>
          <a:p>
            <a:pPr marL="0" lvl="0" indent="0" eaLnBrk="0" fontAlgn="base" hangingPunct="0">
              <a:lnSpc>
                <a:spcPct val="100000"/>
              </a:lnSpc>
              <a:spcBef>
                <a:spcPct val="0"/>
              </a:spcBef>
              <a:spcAft>
                <a:spcPct val="0"/>
              </a:spcAft>
              <a:buFontTx/>
              <a:buChar char="•"/>
            </a:pPr>
            <a:r>
              <a:rPr lang="en-US" altLang="en-US" b="1" dirty="0">
                <a:latin typeface="Arial" panose="020B0604020202020204" pitchFamily="34" charset="0"/>
              </a:rPr>
              <a:t>Outliers:</a:t>
            </a:r>
          </a:p>
          <a:p>
            <a:pPr marL="0" lvl="0" indent="0" eaLnBrk="0" fontAlgn="base" hangingPunct="0">
              <a:lnSpc>
                <a:spcPct val="100000"/>
              </a:lnSpc>
              <a:spcBef>
                <a:spcPct val="0"/>
              </a:spcBef>
              <a:spcAft>
                <a:spcPct val="0"/>
              </a:spcAft>
              <a:buNone/>
            </a:pPr>
            <a:r>
              <a:rPr lang="en-US" b="1" dirty="0"/>
              <a:t>Extreme Outliers</a:t>
            </a:r>
            <a:r>
              <a:rPr lang="en-US" dirty="0"/>
              <a:t> detected in both </a:t>
            </a:r>
            <a:r>
              <a:rPr lang="en-US" dirty="0" err="1"/>
              <a:t>view_count</a:t>
            </a:r>
            <a:r>
              <a:rPr lang="en-US" dirty="0"/>
              <a:t> and </a:t>
            </a:r>
            <a:r>
              <a:rPr lang="en-US" dirty="0" err="1"/>
              <a:t>subscriber_count</a:t>
            </a:r>
            <a:r>
              <a:rPr lang="en-US" dirty="0"/>
              <a:t> (e.g., SET India, MrBeast, BLACKPINK), highlighting the massive performance gap between elite and average channels.</a:t>
            </a:r>
          </a:p>
        </p:txBody>
      </p:sp>
      <p:grpSp>
        <p:nvGrpSpPr>
          <p:cNvPr id="19" name="Group 18">
            <a:extLst>
              <a:ext uri="{FF2B5EF4-FFF2-40B4-BE49-F238E27FC236}">
                <a16:creationId xmlns:a16="http://schemas.microsoft.com/office/drawing/2014/main" id="{07EF1C23-56D7-1D34-6E5F-9AFF698CA2C8}"/>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D3FF398-25AC-844F-680A-6C0461145FEE}"/>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B3C46868-EFEA-E012-291F-93643AECC82A}"/>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4905E941-98E4-8259-A517-C15D75510148}"/>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478523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40D30-E487-984A-1B3C-996EA6D0931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E7EC1B8-1160-CE7C-8E37-3C603E8C679C}"/>
              </a:ext>
            </a:extLst>
          </p:cNvPr>
          <p:cNvSpPr>
            <a:spLocks noGrp="1"/>
          </p:cNvSpPr>
          <p:nvPr>
            <p:ph type="title"/>
          </p:nvPr>
        </p:nvSpPr>
        <p:spPr>
          <a:xfrm>
            <a:off x="594360" y="102875"/>
            <a:ext cx="10873740" cy="1680205"/>
          </a:xfrm>
        </p:spPr>
        <p:txBody>
          <a:bodyPr/>
          <a:lstStyle/>
          <a:p>
            <a:r>
              <a:rPr lang="en-US" dirty="0"/>
              <a:t>Initial Analysis of the Dataset</a:t>
            </a:r>
          </a:p>
        </p:txBody>
      </p:sp>
      <p:grpSp>
        <p:nvGrpSpPr>
          <p:cNvPr id="19" name="Group 18">
            <a:extLst>
              <a:ext uri="{FF2B5EF4-FFF2-40B4-BE49-F238E27FC236}">
                <a16:creationId xmlns:a16="http://schemas.microsoft.com/office/drawing/2014/main" id="{75E46C81-FD97-D2B1-73D1-25480FB15A94}"/>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476A5E73-FAF6-0756-5B55-087AC001A73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FA43BF8-F8FE-0754-B902-E9D28F3CE727}"/>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928DA631-2ACC-F6D9-8CCD-C798A455D856}"/>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2" name="Content Placeholder 1">
            <a:extLst>
              <a:ext uri="{FF2B5EF4-FFF2-40B4-BE49-F238E27FC236}">
                <a16:creationId xmlns:a16="http://schemas.microsoft.com/office/drawing/2014/main" id="{48F95EE6-AE5A-2810-3A4D-92A9A190FFDC}"/>
              </a:ext>
            </a:extLst>
          </p:cNvPr>
          <p:cNvSpPr>
            <a:spLocks noGrp="1" noChangeArrowheads="1"/>
          </p:cNvSpPr>
          <p:nvPr>
            <p:ph sz="quarter" idx="13"/>
          </p:nvPr>
        </p:nvSpPr>
        <p:spPr bwMode="auto">
          <a:xfrm>
            <a:off x="3657601" y="2395282"/>
            <a:ext cx="8285584" cy="3262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Arial" panose="020B0604020202020204" pitchFamily="34" charset="0"/>
              </a:rPr>
              <a:t>Basic Statistics:</a:t>
            </a:r>
            <a:endParaRPr kumimoji="0" lang="en-US" altLang="en-US" sz="1800" b="0" i="0" u="none" strike="noStrike" cap="none" normalizeH="0" baseline="0" dirty="0">
              <a:ln>
                <a:noFill/>
              </a:ln>
              <a:effectLst/>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sz="1800" b="1" dirty="0"/>
              <a:t>Average </a:t>
            </a:r>
            <a:r>
              <a:rPr lang="en-US" b="1" dirty="0" err="1"/>
              <a:t>view_count</a:t>
            </a:r>
            <a:r>
              <a:rPr lang="en-US" sz="1800" b="1" dirty="0"/>
              <a:t>:</a:t>
            </a:r>
            <a:r>
              <a:rPr lang="en-US" sz="1800" dirty="0"/>
              <a:t> Extremely high due to outliers, indicating a heavily skewed distribution</a:t>
            </a:r>
            <a:r>
              <a:rPr kumimoji="0" lang="en-US" altLang="en-US" sz="1800" b="0" i="0" u="none" strike="noStrike" cap="none" normalizeH="0" baseline="0" dirty="0">
                <a:ln>
                  <a:noFill/>
                </a:ln>
                <a:effectLst/>
                <a:latin typeface="Arial" panose="020B0604020202020204" pitchFamily="34" charset="0"/>
              </a:rPr>
              <a:t>.</a:t>
            </a:r>
          </a:p>
          <a:p>
            <a:pPr marL="0" lvl="0" indent="0" eaLnBrk="0" fontAlgn="base" hangingPunct="0">
              <a:lnSpc>
                <a:spcPct val="100000"/>
              </a:lnSpc>
              <a:spcBef>
                <a:spcPct val="0"/>
              </a:spcBef>
              <a:spcAft>
                <a:spcPct val="0"/>
              </a:spcAft>
              <a:buFontTx/>
              <a:buChar char="•"/>
            </a:pPr>
            <a:r>
              <a:rPr lang="en-US" sz="1800" b="1" dirty="0"/>
              <a:t>Average </a:t>
            </a:r>
            <a:r>
              <a:rPr lang="en-US" b="1" dirty="0" err="1"/>
              <a:t>video_count</a:t>
            </a:r>
            <a:r>
              <a:rPr lang="en-US" sz="1800" b="1" dirty="0"/>
              <a:t>:</a:t>
            </a:r>
            <a:r>
              <a:rPr lang="en-US" sz="1800" dirty="0"/>
              <a:t> High for major media channels (e.g., SET India with over 160,000 videos)</a:t>
            </a:r>
            <a:r>
              <a:rPr kumimoji="0" lang="en-US" altLang="en-US" sz="1800" b="0" i="0" u="none" strike="noStrike" cap="none" normalizeH="0" baseline="0" dirty="0">
                <a:ln>
                  <a:noFill/>
                </a:ln>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effectLst/>
                <a:latin typeface="Arial" panose="020B0604020202020204" pitchFamily="34" charset="0"/>
              </a:rPr>
              <a:t>Categorical Distributions:</a:t>
            </a:r>
            <a:endParaRPr kumimoji="0" lang="en-US" altLang="en-US" sz="1800" b="0" i="0" u="none" strike="noStrike" cap="none" normalizeH="0" baseline="0" dirty="0">
              <a:ln>
                <a:noFill/>
              </a:ln>
              <a:effectLst/>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sz="1800" b="1" dirty="0"/>
              <a:t>Geographic Focus:</a:t>
            </a:r>
            <a:r>
              <a:rPr lang="en-US" sz="1800" dirty="0"/>
              <a:t> Channels from </a:t>
            </a:r>
            <a:r>
              <a:rPr lang="en-US" sz="1800" b="1" dirty="0"/>
              <a:t>India (IN)</a:t>
            </a:r>
            <a:r>
              <a:rPr lang="en-US" sz="1800" dirty="0"/>
              <a:t> and the </a:t>
            </a:r>
            <a:r>
              <a:rPr lang="en-US" sz="1800" b="1" dirty="0"/>
              <a:t>United States (US)</a:t>
            </a:r>
            <a:r>
              <a:rPr lang="en-US" sz="1800" dirty="0"/>
              <a:t> dominate the count of high-subscriber channels.</a:t>
            </a:r>
            <a:endParaRPr lang="en-US" sz="1800" b="1"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sz="1800" b="1" dirty="0"/>
              <a:t>Top Categories:</a:t>
            </a:r>
            <a:r>
              <a:rPr lang="en-US" sz="1800" dirty="0"/>
              <a:t> </a:t>
            </a:r>
            <a:r>
              <a:rPr lang="en-US" sz="1800" b="1" dirty="0"/>
              <a:t>Music</a:t>
            </a:r>
            <a:r>
              <a:rPr lang="en-US" sz="1800" dirty="0"/>
              <a:t> and </a:t>
            </a:r>
            <a:r>
              <a:rPr lang="en-US" sz="1800" b="1" dirty="0"/>
              <a:t>Entertainment</a:t>
            </a:r>
            <a:r>
              <a:rPr lang="en-US" sz="1800" dirty="0"/>
              <a:t> show the highest total </a:t>
            </a:r>
            <a:r>
              <a:rPr lang="en-US" sz="1800" dirty="0" err="1"/>
              <a:t>engagement.</a:t>
            </a:r>
            <a:r>
              <a:rPr kumimoji="0" lang="en-US" altLang="en-US" sz="1800" b="0" i="0" u="none" strike="noStrike" cap="none" normalizeH="0" baseline="0" dirty="0" err="1">
                <a:ln>
                  <a:noFill/>
                </a:ln>
                <a:solidFill>
                  <a:schemeClr val="tx1"/>
                </a:solidFill>
                <a:effectLst/>
                <a:latin typeface="Arial" panose="020B0604020202020204" pitchFamily="34" charset="0"/>
              </a:rPr>
              <a:t>eligibility</a:t>
            </a:r>
            <a:r>
              <a:rPr kumimoji="0" lang="en-US" altLang="en-US" sz="1800" b="0" i="0" u="none" strike="noStrike" cap="none" normalizeH="0" baseline="0" dirty="0">
                <a:ln>
                  <a:noFill/>
                </a:ln>
                <a:solidFill>
                  <a:schemeClr val="tx1"/>
                </a:solidFill>
                <a:effectLst/>
                <a:latin typeface="Arial" panose="020B0604020202020204" pitchFamily="34" charset="0"/>
              </a:rPr>
              <a:t> show higher adoption.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67865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3E42D-85A1-9842-92BF-8FD43E12E1BE}"/>
              </a:ext>
            </a:extLst>
          </p:cNvPr>
          <p:cNvSpPr>
            <a:spLocks noGrp="1"/>
          </p:cNvSpPr>
          <p:nvPr>
            <p:ph type="title"/>
          </p:nvPr>
        </p:nvSpPr>
        <p:spPr/>
        <p:txBody>
          <a:bodyPr/>
          <a:lstStyle/>
          <a:p>
            <a:r>
              <a:rPr lang="en-US" dirty="0"/>
              <a:t>Dataset Observations</a:t>
            </a:r>
            <a:endParaRPr lang="en-IN" dirty="0"/>
          </a:p>
        </p:txBody>
      </p:sp>
      <p:sp>
        <p:nvSpPr>
          <p:cNvPr id="4" name="Rectangle 1">
            <a:extLst>
              <a:ext uri="{FF2B5EF4-FFF2-40B4-BE49-F238E27FC236}">
                <a16:creationId xmlns:a16="http://schemas.microsoft.com/office/drawing/2014/main" id="{A8FEB59F-20C0-6630-8BB8-AEB13921C38A}"/>
              </a:ext>
            </a:extLst>
          </p:cNvPr>
          <p:cNvSpPr>
            <a:spLocks noGrp="1" noChangeArrowheads="1"/>
          </p:cNvSpPr>
          <p:nvPr>
            <p:ph sz="quarter" idx="13"/>
          </p:nvPr>
        </p:nvSpPr>
        <p:spPr bwMode="auto">
          <a:xfrm>
            <a:off x="454401" y="3025042"/>
            <a:ext cx="7271346"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00000"/>
              </a:lnSpc>
              <a:spcBef>
                <a:spcPct val="0"/>
              </a:spcBef>
              <a:spcAft>
                <a:spcPct val="0"/>
              </a:spcAft>
              <a:buFontTx/>
              <a:buChar char="•"/>
            </a:pPr>
            <a:r>
              <a:rPr lang="en-US" sz="1600" b="0">
                <a:solidFill>
                  <a:schemeClr val="bg1"/>
                </a:solidFill>
              </a:rPr>
              <a:t>The ~9000+ channel </a:t>
            </a:r>
            <a:r>
              <a:rPr lang="en-US" sz="1600" b="0" dirty="0">
                <a:solidFill>
                  <a:schemeClr val="bg1"/>
                </a:solidFill>
              </a:rPr>
              <a:t>records show a severe power law distribution. Statistical analysis confirmed that mean views and subscribers are drastically higher than their median values, validating the existence of extreme outliers (mega-channels) that command the vast majority of the audience.</a:t>
            </a:r>
          </a:p>
          <a:p>
            <a:pPr marL="0" lvl="0" indent="0" algn="just" eaLnBrk="0" fontAlgn="base" hangingPunct="0">
              <a:lnSpc>
                <a:spcPct val="100000"/>
              </a:lnSpc>
              <a:spcBef>
                <a:spcPct val="0"/>
              </a:spcBef>
              <a:spcAft>
                <a:spcPct val="0"/>
              </a:spcAft>
              <a:buNone/>
            </a:pPr>
            <a:endParaRPr lang="en-US" sz="1600" b="0" dirty="0">
              <a:solidFill>
                <a:schemeClr val="bg1"/>
              </a:solidFill>
            </a:endParaRPr>
          </a:p>
          <a:p>
            <a:pPr marL="0" lvl="0" indent="0" algn="just" eaLnBrk="0" fontAlgn="base" hangingPunct="0">
              <a:lnSpc>
                <a:spcPct val="100000"/>
              </a:lnSpc>
              <a:spcBef>
                <a:spcPct val="0"/>
              </a:spcBef>
              <a:spcAft>
                <a:spcPct val="0"/>
              </a:spcAft>
              <a:buFontTx/>
              <a:buChar char="•"/>
            </a:pPr>
            <a:r>
              <a:rPr lang="en-US" sz="1600" b="0" dirty="0">
                <a:solidFill>
                  <a:schemeClr val="bg1"/>
                </a:solidFill>
              </a:rPr>
              <a:t>Categorical analysis revealed a clear market structure. India (IN) and the United States (US) overwhelmingly dominate both channel volume and total audience share. Content analysis confirmed Music and Entertainment hold the highest median subscriber potential. Lastly, temporal trends indicate that while older channels are large, newer, highly-optimized channels achieve top-tier scale much more rapidly.</a:t>
            </a:r>
            <a:endParaRPr kumimoji="0" lang="en-US" altLang="en-US" sz="16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2933484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079B4-0D24-8177-E04F-75F9ED1E5D84}"/>
              </a:ext>
            </a:extLst>
          </p:cNvPr>
          <p:cNvSpPr>
            <a:spLocks noGrp="1"/>
          </p:cNvSpPr>
          <p:nvPr>
            <p:ph type="title"/>
          </p:nvPr>
        </p:nvSpPr>
        <p:spPr/>
        <p:txBody>
          <a:bodyPr/>
          <a:lstStyle/>
          <a:p>
            <a:r>
              <a:rPr lang="en-US" dirty="0"/>
              <a:t>Graphs</a:t>
            </a:r>
            <a:endParaRPr lang="en-IN" dirty="0"/>
          </a:p>
        </p:txBody>
      </p:sp>
      <p:sp>
        <p:nvSpPr>
          <p:cNvPr id="3" name="Content Placeholder 2">
            <a:extLst>
              <a:ext uri="{FF2B5EF4-FFF2-40B4-BE49-F238E27FC236}">
                <a16:creationId xmlns:a16="http://schemas.microsoft.com/office/drawing/2014/main" id="{54F23540-6851-015C-AB93-1998ACF20CE0}"/>
              </a:ext>
            </a:extLst>
          </p:cNvPr>
          <p:cNvSpPr>
            <a:spLocks noGrp="1"/>
          </p:cNvSpPr>
          <p:nvPr>
            <p:ph sz="quarter" idx="14"/>
          </p:nvPr>
        </p:nvSpPr>
        <p:spPr/>
        <p:txBody>
          <a:bodyPr>
            <a:normAutofit fontScale="77500" lnSpcReduction="20000"/>
          </a:bodyPr>
          <a:lstStyle/>
          <a:p>
            <a:r>
              <a:rPr lang="en-US" b="1" dirty="0"/>
              <a:t>Correlation Analysis: Video Volume vs. Total Views (Scatter Plot):</a:t>
            </a:r>
          </a:p>
          <a:p>
            <a:pPr marL="0" indent="0">
              <a:buNone/>
            </a:pPr>
            <a:r>
              <a:rPr lang="en-US" dirty="0"/>
              <a:t>This operation involved creating a Scatter Plot by mapping the </a:t>
            </a:r>
            <a:r>
              <a:rPr lang="en-US" dirty="0" err="1"/>
              <a:t>video_count</a:t>
            </a:r>
            <a:r>
              <a:rPr lang="en-US" dirty="0"/>
              <a:t> against the channel's </a:t>
            </a:r>
            <a:r>
              <a:rPr lang="en-US" dirty="0" err="1"/>
              <a:t>view_count</a:t>
            </a:r>
            <a:r>
              <a:rPr lang="en-US" dirty="0"/>
              <a:t>. This analysis was critical for confirming the relationship between content output and audience scale. The resulting visualization demonstrated a clear positive correlation, confirming that content consistency and high video volume are foundational elements required for channels to accumulate massive lifetime views.</a:t>
            </a:r>
          </a:p>
        </p:txBody>
      </p:sp>
      <p:pic>
        <p:nvPicPr>
          <p:cNvPr id="8" name="Content Placeholder 7">
            <a:extLst>
              <a:ext uri="{FF2B5EF4-FFF2-40B4-BE49-F238E27FC236}">
                <a16:creationId xmlns:a16="http://schemas.microsoft.com/office/drawing/2014/main" id="{3B2EAE74-06FC-DA7C-BE42-E0D4CBBAC682}"/>
              </a:ext>
            </a:extLst>
          </p:cNvPr>
          <p:cNvPicPr>
            <a:picLocks noGrp="1" noChangeAspect="1"/>
          </p:cNvPicPr>
          <p:nvPr>
            <p:ph sz="quarter" idx="15"/>
          </p:nvPr>
        </p:nvPicPr>
        <p:blipFill>
          <a:blip r:embed="rId2"/>
          <a:stretch>
            <a:fillRect/>
          </a:stretch>
        </p:blipFill>
        <p:spPr>
          <a:xfrm>
            <a:off x="1054574" y="2809875"/>
            <a:ext cx="4277365" cy="3319463"/>
          </a:xfrm>
          <a:prstGeom prst="rect">
            <a:avLst/>
          </a:prstGeom>
        </p:spPr>
      </p:pic>
    </p:spTree>
    <p:extLst>
      <p:ext uri="{BB962C8B-B14F-4D97-AF65-F5344CB8AC3E}">
        <p14:creationId xmlns:p14="http://schemas.microsoft.com/office/powerpoint/2010/main" val="3629558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8C4AD-9573-734E-E1D6-8AC6B99829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F77C2E-AA80-E4EE-6A4B-C3648289CC6D}"/>
              </a:ext>
            </a:extLst>
          </p:cNvPr>
          <p:cNvSpPr>
            <a:spLocks noGrp="1"/>
          </p:cNvSpPr>
          <p:nvPr>
            <p:ph type="title"/>
          </p:nvPr>
        </p:nvSpPr>
        <p:spPr/>
        <p:txBody>
          <a:bodyPr/>
          <a:lstStyle/>
          <a:p>
            <a:r>
              <a:rPr lang="en-US" dirty="0"/>
              <a:t>Graphs</a:t>
            </a:r>
            <a:endParaRPr lang="en-IN" dirty="0"/>
          </a:p>
        </p:txBody>
      </p:sp>
      <p:sp>
        <p:nvSpPr>
          <p:cNvPr id="3" name="Content Placeholder 2">
            <a:extLst>
              <a:ext uri="{FF2B5EF4-FFF2-40B4-BE49-F238E27FC236}">
                <a16:creationId xmlns:a16="http://schemas.microsoft.com/office/drawing/2014/main" id="{B160DE49-640B-9FAC-1A05-BCBAB0FABAC0}"/>
              </a:ext>
            </a:extLst>
          </p:cNvPr>
          <p:cNvSpPr>
            <a:spLocks noGrp="1"/>
          </p:cNvSpPr>
          <p:nvPr>
            <p:ph sz="quarter" idx="14"/>
          </p:nvPr>
        </p:nvSpPr>
        <p:spPr/>
        <p:txBody>
          <a:bodyPr>
            <a:normAutofit fontScale="77500" lnSpcReduction="20000"/>
          </a:bodyPr>
          <a:lstStyle/>
          <a:p>
            <a:pPr marL="0" indent="0">
              <a:buNone/>
            </a:pPr>
            <a:r>
              <a:rPr lang="en-US" b="1" dirty="0"/>
              <a:t>2. Market Leadership and Concentration (Top 10 Bar Chart):</a:t>
            </a:r>
          </a:p>
          <a:p>
            <a:pPr marL="0" indent="0">
              <a:buNone/>
            </a:pPr>
            <a:r>
              <a:rPr lang="en-US" dirty="0"/>
              <a:t>This visualization required first sorting the entire dataset by </a:t>
            </a:r>
            <a:r>
              <a:rPr lang="en-US" b="1" dirty="0" err="1"/>
              <a:t>subscriber_count</a:t>
            </a:r>
            <a:r>
              <a:rPr lang="en-US" dirty="0"/>
              <a:t> and generating a </a:t>
            </a:r>
            <a:r>
              <a:rPr lang="en-US" b="1" dirty="0"/>
              <a:t>Bar Chart</a:t>
            </a:r>
            <a:r>
              <a:rPr lang="en-US" dirty="0"/>
              <a:t> of the top 10 channels. The operation's purpose was to highlight the extreme </a:t>
            </a:r>
            <a:r>
              <a:rPr lang="en-US" b="1" dirty="0"/>
              <a:t>market concentration</a:t>
            </a:r>
            <a:r>
              <a:rPr lang="en-US" dirty="0"/>
              <a:t> on the platform. The output graphically revealed the dominant scale of these few global leaders (e.g., MrBeast, SET India) and their geographical concentration in key regions like the US and India</a:t>
            </a:r>
          </a:p>
        </p:txBody>
      </p:sp>
      <p:pic>
        <p:nvPicPr>
          <p:cNvPr id="7" name="Content Placeholder 6">
            <a:extLst>
              <a:ext uri="{FF2B5EF4-FFF2-40B4-BE49-F238E27FC236}">
                <a16:creationId xmlns:a16="http://schemas.microsoft.com/office/drawing/2014/main" id="{7A9982A8-3692-FC9B-8A44-08A7C5C2BE77}"/>
              </a:ext>
            </a:extLst>
          </p:cNvPr>
          <p:cNvPicPr>
            <a:picLocks noGrp="1" noChangeAspect="1"/>
          </p:cNvPicPr>
          <p:nvPr>
            <p:ph sz="quarter" idx="15"/>
          </p:nvPr>
        </p:nvPicPr>
        <p:blipFill>
          <a:blip r:embed="rId2"/>
          <a:stretch>
            <a:fillRect/>
          </a:stretch>
        </p:blipFill>
        <p:spPr>
          <a:xfrm>
            <a:off x="593725" y="3155473"/>
            <a:ext cx="5199063" cy="2628266"/>
          </a:xfrm>
          <a:prstGeom prst="rect">
            <a:avLst/>
          </a:prstGeom>
        </p:spPr>
      </p:pic>
    </p:spTree>
    <p:extLst>
      <p:ext uri="{BB962C8B-B14F-4D97-AF65-F5344CB8AC3E}">
        <p14:creationId xmlns:p14="http://schemas.microsoft.com/office/powerpoint/2010/main" val="3762096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46989-8B45-3CC4-DCAF-1CA8A19F27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213F7-514E-57D0-4B77-4AE1475E74D2}"/>
              </a:ext>
            </a:extLst>
          </p:cNvPr>
          <p:cNvSpPr>
            <a:spLocks noGrp="1"/>
          </p:cNvSpPr>
          <p:nvPr>
            <p:ph type="title"/>
          </p:nvPr>
        </p:nvSpPr>
        <p:spPr/>
        <p:txBody>
          <a:bodyPr/>
          <a:lstStyle/>
          <a:p>
            <a:r>
              <a:rPr lang="en-US" dirty="0"/>
              <a:t>Graphs</a:t>
            </a:r>
            <a:endParaRPr lang="en-IN" dirty="0"/>
          </a:p>
        </p:txBody>
      </p:sp>
      <p:sp>
        <p:nvSpPr>
          <p:cNvPr id="3" name="Content Placeholder 2">
            <a:extLst>
              <a:ext uri="{FF2B5EF4-FFF2-40B4-BE49-F238E27FC236}">
                <a16:creationId xmlns:a16="http://schemas.microsoft.com/office/drawing/2014/main" id="{BAABCBD2-6E82-FFBD-831B-F8344238B73E}"/>
              </a:ext>
            </a:extLst>
          </p:cNvPr>
          <p:cNvSpPr>
            <a:spLocks noGrp="1"/>
          </p:cNvSpPr>
          <p:nvPr>
            <p:ph sz="quarter" idx="14"/>
          </p:nvPr>
        </p:nvSpPr>
        <p:spPr>
          <a:xfrm>
            <a:off x="603885" y="457201"/>
            <a:ext cx="5358376" cy="2519264"/>
          </a:xfrm>
        </p:spPr>
        <p:txBody>
          <a:bodyPr>
            <a:normAutofit fontScale="70000" lnSpcReduction="20000"/>
          </a:bodyPr>
          <a:lstStyle/>
          <a:p>
            <a:pPr marL="0" indent="0">
              <a:buNone/>
            </a:pPr>
            <a:r>
              <a:rPr lang="en-US" sz="2300" b="1" dirty="0"/>
              <a:t>3. Correlation Matrix Heatmap Operation</a:t>
            </a:r>
          </a:p>
          <a:p>
            <a:pPr marL="0" indent="0">
              <a:buNone/>
            </a:pPr>
            <a:r>
              <a:rPr lang="en-US" sz="2300" dirty="0"/>
              <a:t>The process involved calculating a </a:t>
            </a:r>
            <a:r>
              <a:rPr lang="en-US" sz="2300" b="1" dirty="0"/>
              <a:t>Correlation Matrix</a:t>
            </a:r>
            <a:r>
              <a:rPr lang="en-US" sz="2300" dirty="0"/>
              <a:t> across the key quantitative features: </a:t>
            </a:r>
            <a:r>
              <a:rPr lang="en-US" sz="2300" b="1" dirty="0" err="1"/>
              <a:t>subscriber_count</a:t>
            </a:r>
            <a:r>
              <a:rPr lang="en-US" sz="2300" dirty="0"/>
              <a:t>, </a:t>
            </a:r>
            <a:r>
              <a:rPr lang="en-US" sz="2300" b="1" dirty="0" err="1"/>
              <a:t>view_count</a:t>
            </a:r>
            <a:r>
              <a:rPr lang="en-US" sz="2300" dirty="0"/>
              <a:t>, and </a:t>
            </a:r>
            <a:r>
              <a:rPr lang="en-US" sz="2300" b="1" dirty="0" err="1"/>
              <a:t>video_count</a:t>
            </a:r>
            <a:r>
              <a:rPr lang="en-US" sz="2300" dirty="0"/>
              <a:t> (and potentially </a:t>
            </a:r>
            <a:r>
              <a:rPr lang="en-US" sz="2300" b="1" dirty="0"/>
              <a:t>Channel Age</a:t>
            </a:r>
            <a:r>
              <a:rPr lang="en-US" sz="2300" dirty="0"/>
              <a:t>). This calculated the Pearson correlation coefficient (r) for every pair of variables. This matrix was then visualized as a </a:t>
            </a:r>
            <a:r>
              <a:rPr lang="en-US" sz="2300" b="1" dirty="0"/>
              <a:t>Heatmap</a:t>
            </a:r>
            <a:r>
              <a:rPr lang="en-US" sz="2300" dirty="0"/>
              <a:t>, using color intensity to instantly show the </a:t>
            </a:r>
            <a:r>
              <a:rPr lang="en-US" sz="2300" b="1" dirty="0"/>
              <a:t>strength and direction</a:t>
            </a:r>
            <a:r>
              <a:rPr lang="en-US" sz="2300" dirty="0"/>
              <a:t> of these correlations. This output is critical for validating assumptions (e.g., strong link between views and subscribers) and for </a:t>
            </a:r>
            <a:r>
              <a:rPr lang="en-US" sz="2300" b="1" dirty="0"/>
              <a:t>feature selection</a:t>
            </a:r>
            <a:r>
              <a:rPr lang="en-US" sz="2300" dirty="0"/>
              <a:t> prior to building any predictive model.</a:t>
            </a:r>
          </a:p>
          <a:p>
            <a:pPr marL="0" indent="0">
              <a:buNone/>
            </a:pPr>
            <a:endParaRPr lang="en-IN" dirty="0"/>
          </a:p>
        </p:txBody>
      </p:sp>
      <p:pic>
        <p:nvPicPr>
          <p:cNvPr id="9" name="Content Placeholder 8">
            <a:extLst>
              <a:ext uri="{FF2B5EF4-FFF2-40B4-BE49-F238E27FC236}">
                <a16:creationId xmlns:a16="http://schemas.microsoft.com/office/drawing/2014/main" id="{8F8884B1-CD7A-1AC5-0C80-3BFDABA83C6C}"/>
              </a:ext>
            </a:extLst>
          </p:cNvPr>
          <p:cNvPicPr>
            <a:picLocks noGrp="1" noChangeAspect="1"/>
          </p:cNvPicPr>
          <p:nvPr>
            <p:ph sz="quarter" idx="15"/>
          </p:nvPr>
        </p:nvPicPr>
        <p:blipFill>
          <a:blip r:embed="rId2"/>
          <a:stretch>
            <a:fillRect/>
          </a:stretch>
        </p:blipFill>
        <p:spPr>
          <a:xfrm>
            <a:off x="736750" y="2976465"/>
            <a:ext cx="4838368" cy="3319463"/>
          </a:xfrm>
          <a:prstGeom prst="rect">
            <a:avLst/>
          </a:prstGeom>
        </p:spPr>
      </p:pic>
    </p:spTree>
    <p:extLst>
      <p:ext uri="{BB962C8B-B14F-4D97-AF65-F5344CB8AC3E}">
        <p14:creationId xmlns:p14="http://schemas.microsoft.com/office/powerpoint/2010/main" val="2832504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2221E72-A118-ECAF-257C-2183AD783AE4}"/>
              </a:ext>
            </a:extLst>
          </p:cNvPr>
          <p:cNvPicPr>
            <a:picLocks noChangeAspect="1"/>
          </p:cNvPicPr>
          <p:nvPr/>
        </p:nvPicPr>
        <p:blipFill>
          <a:blip r:embed="rId2"/>
          <a:stretch>
            <a:fillRect/>
          </a:stretch>
        </p:blipFill>
        <p:spPr>
          <a:xfrm>
            <a:off x="6126052" y="3482491"/>
            <a:ext cx="5214894" cy="2559985"/>
          </a:xfrm>
          <a:prstGeom prst="rect">
            <a:avLst/>
          </a:prstGeom>
        </p:spPr>
      </p:pic>
      <p:sp>
        <p:nvSpPr>
          <p:cNvPr id="2" name="Title 1">
            <a:extLst>
              <a:ext uri="{FF2B5EF4-FFF2-40B4-BE49-F238E27FC236}">
                <a16:creationId xmlns:a16="http://schemas.microsoft.com/office/drawing/2014/main" id="{D327D750-9071-F107-4DC4-CB6AB6B7CD7A}"/>
              </a:ext>
            </a:extLst>
          </p:cNvPr>
          <p:cNvSpPr>
            <a:spLocks noGrp="1"/>
          </p:cNvSpPr>
          <p:nvPr>
            <p:ph type="title"/>
          </p:nvPr>
        </p:nvSpPr>
        <p:spPr/>
        <p:txBody>
          <a:bodyPr/>
          <a:lstStyle/>
          <a:p>
            <a:endParaRPr lang="en-IN" dirty="0"/>
          </a:p>
        </p:txBody>
      </p:sp>
      <p:pic>
        <p:nvPicPr>
          <p:cNvPr id="7" name="Content Placeholder 6">
            <a:extLst>
              <a:ext uri="{FF2B5EF4-FFF2-40B4-BE49-F238E27FC236}">
                <a16:creationId xmlns:a16="http://schemas.microsoft.com/office/drawing/2014/main" id="{BBD2BC0D-B7C8-241B-2E52-09B5A30940AA}"/>
              </a:ext>
            </a:extLst>
          </p:cNvPr>
          <p:cNvPicPr>
            <a:picLocks noGrp="1" noChangeAspect="1"/>
          </p:cNvPicPr>
          <p:nvPr>
            <p:ph sz="quarter" idx="15"/>
          </p:nvPr>
        </p:nvPicPr>
        <p:blipFill>
          <a:blip r:embed="rId3"/>
          <a:stretch>
            <a:fillRect/>
          </a:stretch>
        </p:blipFill>
        <p:spPr>
          <a:xfrm>
            <a:off x="530889" y="3339554"/>
            <a:ext cx="5199063" cy="3174505"/>
          </a:xfrm>
          <a:prstGeom prst="rect">
            <a:avLst/>
          </a:prstGeom>
        </p:spPr>
      </p:pic>
      <p:pic>
        <p:nvPicPr>
          <p:cNvPr id="13" name="Content Placeholder 12">
            <a:extLst>
              <a:ext uri="{FF2B5EF4-FFF2-40B4-BE49-F238E27FC236}">
                <a16:creationId xmlns:a16="http://schemas.microsoft.com/office/drawing/2014/main" id="{C897A5E7-7D62-AC17-3A1F-4E5C5622156A}"/>
              </a:ext>
            </a:extLst>
          </p:cNvPr>
          <p:cNvPicPr>
            <a:picLocks noGrp="1" noChangeAspect="1"/>
          </p:cNvPicPr>
          <p:nvPr>
            <p:ph sz="quarter" idx="14"/>
          </p:nvPr>
        </p:nvPicPr>
        <p:blipFill>
          <a:blip r:embed="rId4"/>
          <a:stretch>
            <a:fillRect/>
          </a:stretch>
        </p:blipFill>
        <p:spPr>
          <a:xfrm>
            <a:off x="1082352" y="457199"/>
            <a:ext cx="4096138" cy="2575249"/>
          </a:xfrm>
          <a:prstGeom prst="rect">
            <a:avLst/>
          </a:prstGeom>
        </p:spPr>
      </p:pic>
    </p:spTree>
    <p:extLst>
      <p:ext uri="{BB962C8B-B14F-4D97-AF65-F5344CB8AC3E}">
        <p14:creationId xmlns:p14="http://schemas.microsoft.com/office/powerpoint/2010/main" val="2732955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346ED-721D-85EE-2F1B-A31D0912DE29}"/>
              </a:ext>
            </a:extLst>
          </p:cNvPr>
          <p:cNvSpPr>
            <a:spLocks noGrp="1"/>
          </p:cNvSpPr>
          <p:nvPr>
            <p:ph type="title"/>
          </p:nvPr>
        </p:nvSpPr>
        <p:spPr>
          <a:xfrm>
            <a:off x="594360" y="278129"/>
            <a:ext cx="9778365" cy="1494596"/>
          </a:xfrm>
        </p:spPr>
        <p:txBody>
          <a:bodyPr/>
          <a:lstStyle/>
          <a:p>
            <a:r>
              <a:rPr lang="en-US" dirty="0"/>
              <a:t>Conclusion&amp; Future scope</a:t>
            </a:r>
          </a:p>
        </p:txBody>
      </p:sp>
      <p:sp>
        <p:nvSpPr>
          <p:cNvPr id="3" name="Content Placeholder 2">
            <a:extLst>
              <a:ext uri="{FF2B5EF4-FFF2-40B4-BE49-F238E27FC236}">
                <a16:creationId xmlns:a16="http://schemas.microsoft.com/office/drawing/2014/main" id="{DB097449-5B72-ADA0-3B2D-1CBC160D6B90}"/>
              </a:ext>
            </a:extLst>
          </p:cNvPr>
          <p:cNvSpPr>
            <a:spLocks noGrp="1"/>
          </p:cNvSpPr>
          <p:nvPr>
            <p:ph sz="quarter" idx="15"/>
          </p:nvPr>
        </p:nvSpPr>
        <p:spPr>
          <a:xfrm>
            <a:off x="536763" y="2314419"/>
            <a:ext cx="10659972" cy="2845410"/>
          </a:xfrm>
        </p:spPr>
        <p:txBody>
          <a:bodyPr>
            <a:noAutofit/>
          </a:bodyPr>
          <a:lstStyle/>
          <a:p>
            <a:pPr algn="just"/>
            <a:r>
              <a:rPr lang="en-US" sz="1600" dirty="0">
                <a:cs typeface="Arial" panose="020B0604020202020204" pitchFamily="34" charset="0"/>
              </a:rPr>
              <a:t>The analysis confirms that channel success is a multi-layered outcome driven by content volume and strategic alignment. A strong positive correlation between video count and total views establishes content consistency as foundational. However, true scale is highly concentrated in the Music and Entertainment categories and geographically dominated by the US and India, underscoring the necessity of high-appeal content in major global consumption markets. The findings provide clear targets for optimizing resource allocation and content strategy.</a:t>
            </a:r>
          </a:p>
          <a:p>
            <a:pPr algn="just"/>
            <a:r>
              <a:rPr lang="en-US" sz="1600" dirty="0">
                <a:cs typeface="Arial" panose="020B0604020202020204" pitchFamily="34" charset="0"/>
              </a:rPr>
              <a:t>Future work will transition from descriptive analysis to a predictive strategic tool using Big Data Analytics. The immediate next step involves applying Regression Models (e.g., Random Forest) via </a:t>
            </a:r>
            <a:r>
              <a:rPr lang="en-US" sz="1600" dirty="0" err="1">
                <a:cs typeface="Arial" panose="020B0604020202020204" pitchFamily="34" charset="0"/>
              </a:rPr>
              <a:t>PySpark</a:t>
            </a:r>
            <a:r>
              <a:rPr lang="en-US" sz="1600" dirty="0">
                <a:cs typeface="Arial" panose="020B0604020202020204" pitchFamily="34" charset="0"/>
              </a:rPr>
              <a:t> </a:t>
            </a:r>
            <a:r>
              <a:rPr lang="en-US" sz="1600" dirty="0" err="1">
                <a:cs typeface="Arial" panose="020B0604020202020204" pitchFamily="34" charset="0"/>
              </a:rPr>
              <a:t>MLlib</a:t>
            </a:r>
            <a:r>
              <a:rPr lang="en-US" sz="1600" dirty="0">
                <a:cs typeface="Arial" panose="020B0604020202020204" pitchFamily="34" charset="0"/>
              </a:rPr>
              <a:t> to forecast a channel's growth rate, quantifying the predictive weight of video frequency and category. This will be paired with Natural Language Processing (NLP) Topic Modeling on channel descriptions to identify the specific, granular content themes—beyond broad categories—that correlate most strongly with massive audience scale.</a:t>
            </a:r>
          </a:p>
        </p:txBody>
      </p:sp>
    </p:spTree>
    <p:extLst>
      <p:ext uri="{BB962C8B-B14F-4D97-AF65-F5344CB8AC3E}">
        <p14:creationId xmlns:p14="http://schemas.microsoft.com/office/powerpoint/2010/main" val="888484295"/>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3.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Geometric annual presentation</Template>
  <TotalTime>90</TotalTime>
  <Words>935</Words>
  <Application>Microsoft Office PowerPoint</Application>
  <PresentationFormat>Widescreen</PresentationFormat>
  <Paragraphs>52</Paragraphs>
  <Slides>11</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Agency FB</vt:lpstr>
      <vt:lpstr>Arial</vt:lpstr>
      <vt:lpstr>Calibri</vt:lpstr>
      <vt:lpstr>Franklin Gothic Book</vt:lpstr>
      <vt:lpstr>Franklin Gothic Demi</vt:lpstr>
      <vt:lpstr>Custom</vt:lpstr>
      <vt:lpstr>Youtube Channel Information Analysis using Big Data Analytics (PySpark) </vt:lpstr>
      <vt:lpstr>Agenda</vt:lpstr>
      <vt:lpstr>Introduction</vt:lpstr>
      <vt:lpstr>Initial Analysis of the Dataset</vt:lpstr>
      <vt:lpstr>Initial Analysis of the Dataset</vt:lpstr>
      <vt:lpstr>Dataset Observations</vt:lpstr>
      <vt:lpstr>Graphs</vt:lpstr>
      <vt:lpstr>Graphs</vt:lpstr>
      <vt:lpstr>Graphs</vt:lpstr>
      <vt:lpstr>PowerPoint Presentation</vt:lpstr>
      <vt:lpstr>Conclusion&amp; Future scope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madishettisanjana@outlook.com</dc:creator>
  <cp:lastModifiedBy>Dasaram Varsha Reddy</cp:lastModifiedBy>
  <cp:revision>2</cp:revision>
  <dcterms:created xsi:type="dcterms:W3CDTF">2025-10-06T09:54:00Z</dcterms:created>
  <dcterms:modified xsi:type="dcterms:W3CDTF">2025-10-09T15:52:58Z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